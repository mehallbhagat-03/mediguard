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aloo" charset="1" panose="03080902040302020200"/>
      <p:regular r:id="rId12"/>
    </p:embeddedFont>
    <p:embeddedFont>
      <p:font typeface="29LT Zarid Sans Bold" charset="1" panose="00000800000000000000"/>
      <p:regular r:id="rId13"/>
    </p:embeddedFont>
    <p:embeddedFont>
      <p:font typeface="29LT Zarid Sa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7552" y="2640611"/>
            <a:ext cx="6311748" cy="5967470"/>
          </a:xfrm>
          <a:custGeom>
            <a:avLst/>
            <a:gdLst/>
            <a:ahLst/>
            <a:cxnLst/>
            <a:rect r="r" b="b" t="t" l="l"/>
            <a:pathLst>
              <a:path h="5967470" w="6311748">
                <a:moveTo>
                  <a:pt x="0" y="0"/>
                </a:moveTo>
                <a:lnTo>
                  <a:pt x="6311748" y="0"/>
                </a:lnTo>
                <a:lnTo>
                  <a:pt x="6311748" y="5967471"/>
                </a:lnTo>
                <a:lnTo>
                  <a:pt x="0" y="5967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51045" y="583211"/>
            <a:ext cx="4984890" cy="4114800"/>
          </a:xfrm>
          <a:custGeom>
            <a:avLst/>
            <a:gdLst/>
            <a:ahLst/>
            <a:cxnLst/>
            <a:rect r="r" b="b" t="t" l="l"/>
            <a:pathLst>
              <a:path h="4114800" w="4984890">
                <a:moveTo>
                  <a:pt x="0" y="0"/>
                </a:moveTo>
                <a:lnTo>
                  <a:pt x="4984890" y="0"/>
                </a:lnTo>
                <a:lnTo>
                  <a:pt x="49848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48588">
            <a:off x="13154454" y="7192977"/>
            <a:ext cx="4946277" cy="3201590"/>
          </a:xfrm>
          <a:custGeom>
            <a:avLst/>
            <a:gdLst/>
            <a:ahLst/>
            <a:cxnLst/>
            <a:rect r="r" b="b" t="t" l="l"/>
            <a:pathLst>
              <a:path h="3201590" w="4946277">
                <a:moveTo>
                  <a:pt x="0" y="0"/>
                </a:moveTo>
                <a:lnTo>
                  <a:pt x="4946278" y="0"/>
                </a:lnTo>
                <a:lnTo>
                  <a:pt x="4946278" y="3201590"/>
                </a:lnTo>
                <a:lnTo>
                  <a:pt x="0" y="3201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6435" y="622300"/>
            <a:ext cx="3134729" cy="4114800"/>
          </a:xfrm>
          <a:custGeom>
            <a:avLst/>
            <a:gdLst/>
            <a:ahLst/>
            <a:cxnLst/>
            <a:rect r="r" b="b" t="t" l="l"/>
            <a:pathLst>
              <a:path h="4114800" w="3134729">
                <a:moveTo>
                  <a:pt x="0" y="0"/>
                </a:moveTo>
                <a:lnTo>
                  <a:pt x="3134730" y="0"/>
                </a:lnTo>
                <a:lnTo>
                  <a:pt x="31347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23461" y="-14986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1400" y="3947192"/>
            <a:ext cx="10871204" cy="274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8"/>
              </a:lnSpc>
            </a:pPr>
            <a:r>
              <a:rPr lang="en-US" sz="13782">
                <a:solidFill>
                  <a:srgbClr val="1D628B"/>
                </a:solidFill>
                <a:latin typeface="Baloo"/>
                <a:ea typeface="Baloo"/>
                <a:cs typeface="Baloo"/>
                <a:sym typeface="Baloo"/>
              </a:rPr>
              <a:t>MEDIGUARD</a:t>
            </a:r>
          </a:p>
          <a:p>
            <a:pPr algn="l">
              <a:lnSpc>
                <a:spcPts val="4928"/>
              </a:lnSpc>
            </a:pPr>
            <a:r>
              <a:rPr lang="en-US" sz="5600">
                <a:solidFill>
                  <a:srgbClr val="1D628B"/>
                </a:solidFill>
                <a:latin typeface="Baloo"/>
                <a:ea typeface="Baloo"/>
                <a:cs typeface="Baloo"/>
                <a:sym typeface="Baloo"/>
              </a:rPr>
              <a:t>Smart IoT-Based Medicine Reminder &amp; Assistance System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455539" y="92202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084809"/>
            <a:ext cx="10871204" cy="295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6500">
                <a:solidFill>
                  <a:srgbClr val="1D628B"/>
                </a:solidFill>
                <a:latin typeface="Baloo"/>
                <a:ea typeface="Baloo"/>
                <a:cs typeface="Baloo"/>
                <a:sym typeface="Baloo"/>
              </a:rPr>
              <a:t>Team : CTRL + CARE</a:t>
            </a:r>
          </a:p>
          <a:p>
            <a:pPr algn="l">
              <a:lnSpc>
                <a:spcPts val="5720"/>
              </a:lnSpc>
            </a:pPr>
            <a:r>
              <a:rPr lang="en-US" sz="6500">
                <a:solidFill>
                  <a:srgbClr val="1D628B"/>
                </a:solidFill>
                <a:latin typeface="Baloo"/>
                <a:ea typeface="Baloo"/>
                <a:cs typeface="Baloo"/>
                <a:sym typeface="Baloo"/>
              </a:rPr>
              <a:t>Domain : Health tech and bio wearables</a:t>
            </a:r>
          </a:p>
          <a:p>
            <a:pPr algn="l">
              <a:lnSpc>
                <a:spcPts val="57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5139" y="8848638"/>
            <a:ext cx="7291962" cy="5303245"/>
          </a:xfrm>
          <a:custGeom>
            <a:avLst/>
            <a:gdLst/>
            <a:ahLst/>
            <a:cxnLst/>
            <a:rect r="r" b="b" t="t" l="l"/>
            <a:pathLst>
              <a:path h="5303245" w="7291962">
                <a:moveTo>
                  <a:pt x="0" y="0"/>
                </a:moveTo>
                <a:lnTo>
                  <a:pt x="7291962" y="0"/>
                </a:lnTo>
                <a:lnTo>
                  <a:pt x="7291962" y="5303245"/>
                </a:lnTo>
                <a:lnTo>
                  <a:pt x="0" y="5303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26110" y="-6381975"/>
            <a:ext cx="11939270" cy="1193927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342" t="0" r="-2534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743781">
            <a:off x="13007667" y="-550461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623" y="6998335"/>
            <a:ext cx="3973804" cy="3700605"/>
          </a:xfrm>
          <a:custGeom>
            <a:avLst/>
            <a:gdLst/>
            <a:ahLst/>
            <a:cxnLst/>
            <a:rect r="r" b="b" t="t" l="l"/>
            <a:pathLst>
              <a:path h="3700605" w="3973804">
                <a:moveTo>
                  <a:pt x="0" y="0"/>
                </a:moveTo>
                <a:lnTo>
                  <a:pt x="3973804" y="0"/>
                </a:lnTo>
                <a:lnTo>
                  <a:pt x="3973804" y="3700605"/>
                </a:lnTo>
                <a:lnTo>
                  <a:pt x="0" y="3700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78207" y="2379164"/>
            <a:ext cx="7379014" cy="194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0"/>
              </a:lnSpc>
            </a:pPr>
            <a:r>
              <a:rPr lang="en-US" sz="9892" b="true">
                <a:solidFill>
                  <a:srgbClr val="1D628B"/>
                </a:solidFill>
                <a:latin typeface="29LT Zarid Sans Bold"/>
                <a:ea typeface="29LT Zarid Sans Bold"/>
                <a:cs typeface="29LT Zarid Sans Bold"/>
                <a:sym typeface="29LT Zarid Sans Bold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8207" y="3977552"/>
            <a:ext cx="10680722" cy="606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Medicati</a:t>
            </a: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on is often missed because of:</a:t>
            </a:r>
          </a:p>
          <a:p>
            <a:pPr algn="l" marL="777865" indent="-388933" lvl="1">
              <a:lnSpc>
                <a:spcPts val="3602"/>
              </a:lnSpc>
              <a:buFont typeface="Arial"/>
              <a:buChar char="•"/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⏰ Forgetting scheduled medicine times</a:t>
            </a:r>
          </a:p>
          <a:p>
            <a:pPr algn="l" marL="777865" indent="-388933" lvl="1">
              <a:lnSpc>
                <a:spcPts val="3602"/>
              </a:lnSpc>
              <a:buFont typeface="Arial"/>
              <a:buChar char="•"/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👴 Difficulty managing multiple medicines</a:t>
            </a:r>
          </a:p>
          <a:p>
            <a:pPr algn="l" marL="777865" indent="-388933" lvl="1">
              <a:lnSpc>
                <a:spcPts val="3602"/>
              </a:lnSpc>
              <a:buFont typeface="Arial"/>
              <a:buChar char="•"/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🔔 Convention</a:t>
            </a: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al alarms only provide a basic reminder</a:t>
            </a:r>
          </a:p>
          <a:p>
            <a:pPr algn="l" marL="777865" indent="-388933" lvl="1">
              <a:lnSpc>
                <a:spcPts val="3602"/>
              </a:lnSpc>
              <a:buFont typeface="Arial"/>
              <a:buChar char="•"/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📱 No immediate notification to a caregiver when medicine is missed</a:t>
            </a:r>
          </a:p>
          <a:p>
            <a:pPr algn="l" marL="777865" indent="-388933" lvl="1">
              <a:lnSpc>
                <a:spcPts val="3602"/>
              </a:lnSpc>
              <a:buFont typeface="Arial"/>
              <a:buChar char="•"/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🚨 No dedicated mechanism for requesting emergency assistance</a:t>
            </a:r>
          </a:p>
          <a:p>
            <a:pPr algn="l">
              <a:lnSpc>
                <a:spcPts val="3602"/>
              </a:lnSpc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Our Goal</a:t>
            </a:r>
          </a:p>
          <a:p>
            <a:pPr algn="l">
              <a:lnSpc>
                <a:spcPts val="3602"/>
              </a:lnSpc>
            </a:pPr>
            <a:r>
              <a:rPr lang="en-US" sz="3602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To develop a low-cost smart medicine box that can remind the user, detect whether the medicine was taken, notify remotely, and provide emergency assistance.</a:t>
            </a:r>
          </a:p>
          <a:p>
            <a:pPr algn="l">
              <a:lnSpc>
                <a:spcPts val="360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67000" y="-3063962"/>
            <a:ext cx="7291962" cy="5303245"/>
          </a:xfrm>
          <a:custGeom>
            <a:avLst/>
            <a:gdLst/>
            <a:ahLst/>
            <a:cxnLst/>
            <a:rect r="r" b="b" t="t" l="l"/>
            <a:pathLst>
              <a:path h="5303245" w="7291962">
                <a:moveTo>
                  <a:pt x="0" y="0"/>
                </a:moveTo>
                <a:lnTo>
                  <a:pt x="7291962" y="0"/>
                </a:lnTo>
                <a:lnTo>
                  <a:pt x="7291962" y="5303245"/>
                </a:lnTo>
                <a:lnTo>
                  <a:pt x="0" y="5303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53278" y="8571143"/>
            <a:ext cx="5024874" cy="3151967"/>
          </a:xfrm>
          <a:custGeom>
            <a:avLst/>
            <a:gdLst/>
            <a:ahLst/>
            <a:cxnLst/>
            <a:rect r="r" b="b" t="t" l="l"/>
            <a:pathLst>
              <a:path h="3151967" w="5024874">
                <a:moveTo>
                  <a:pt x="0" y="0"/>
                </a:moveTo>
                <a:lnTo>
                  <a:pt x="5024875" y="0"/>
                </a:lnTo>
                <a:lnTo>
                  <a:pt x="5024875" y="3151967"/>
                </a:lnTo>
                <a:lnTo>
                  <a:pt x="0" y="315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8370" y="-652744"/>
            <a:ext cx="10112019" cy="206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3"/>
              </a:lnSpc>
            </a:pPr>
            <a:r>
              <a:rPr lang="en-US" sz="10459" b="true">
                <a:solidFill>
                  <a:srgbClr val="1D628B"/>
                </a:solidFill>
                <a:latin typeface="29LT Zarid Sans Bold"/>
                <a:ea typeface="29LT Zarid Sans Bold"/>
                <a:cs typeface="29LT Zarid Sans Bold"/>
                <a:sym typeface="29LT Zarid Sans Bold"/>
              </a:rPr>
              <a:t>Working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90468">
            <a:off x="14380985" y="-10287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90468">
            <a:off x="-3386873" y="5252593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2403" y="1205194"/>
            <a:ext cx="12058169" cy="9516886"/>
          </a:xfrm>
          <a:custGeom>
            <a:avLst/>
            <a:gdLst/>
            <a:ahLst/>
            <a:cxnLst/>
            <a:rect r="r" b="b" t="t" l="l"/>
            <a:pathLst>
              <a:path h="9516886" w="12058169">
                <a:moveTo>
                  <a:pt x="0" y="0"/>
                </a:moveTo>
                <a:lnTo>
                  <a:pt x="12058169" y="0"/>
                </a:lnTo>
                <a:lnTo>
                  <a:pt x="12058169" y="9516886"/>
                </a:lnTo>
                <a:lnTo>
                  <a:pt x="0" y="9516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58" r="0" b="-18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36725" y="7781784"/>
            <a:ext cx="5992223" cy="155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9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C</a:t>
            </a:r>
            <a:r>
              <a:rPr lang="en-US" sz="29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ontroller</a:t>
            </a:r>
          </a:p>
          <a:p>
            <a:pPr algn="l">
              <a:lnSpc>
                <a:spcPts val="2904"/>
              </a:lnSpc>
            </a:pPr>
            <a:r>
              <a:rPr lang="en-US" sz="29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ESP32 acts as the centr</a:t>
            </a:r>
            <a:r>
              <a:rPr lang="en-US" sz="29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al controller and connects the system to Blynk IoT.</a:t>
            </a:r>
          </a:p>
          <a:p>
            <a:pPr algn="l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47553">
            <a:off x="285116" y="7490131"/>
            <a:ext cx="1726670" cy="3208339"/>
          </a:xfrm>
          <a:custGeom>
            <a:avLst/>
            <a:gdLst/>
            <a:ahLst/>
            <a:cxnLst/>
            <a:rect r="r" b="b" t="t" l="l"/>
            <a:pathLst>
              <a:path h="3208339" w="1726670">
                <a:moveTo>
                  <a:pt x="0" y="0"/>
                </a:moveTo>
                <a:lnTo>
                  <a:pt x="1726669" y="0"/>
                </a:lnTo>
                <a:lnTo>
                  <a:pt x="1726669" y="3208338"/>
                </a:lnTo>
                <a:lnTo>
                  <a:pt x="0" y="3208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06396">
            <a:off x="15907259" y="749300"/>
            <a:ext cx="3134729" cy="4114800"/>
          </a:xfrm>
          <a:custGeom>
            <a:avLst/>
            <a:gdLst/>
            <a:ahLst/>
            <a:cxnLst/>
            <a:rect r="r" b="b" t="t" l="l"/>
            <a:pathLst>
              <a:path h="4114800" w="3134729">
                <a:moveTo>
                  <a:pt x="0" y="0"/>
                </a:moveTo>
                <a:lnTo>
                  <a:pt x="3134729" y="0"/>
                </a:lnTo>
                <a:lnTo>
                  <a:pt x="31347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76432" y="-280737"/>
            <a:ext cx="10745217" cy="167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7"/>
              </a:lnSpc>
            </a:pPr>
            <a:r>
              <a:rPr lang="en-US" sz="8519" b="true">
                <a:solidFill>
                  <a:srgbClr val="1D628B"/>
                </a:solidFill>
                <a:latin typeface="29LT Zarid Sans Bold"/>
                <a:ea typeface="29LT Zarid Sans Bold"/>
                <a:cs typeface="29LT Zarid Sans Bold"/>
                <a:sym typeface="29LT Zarid Sans Bold"/>
              </a:rPr>
              <a:t>Key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7186" y="2693460"/>
            <a:ext cx="6048663" cy="199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Smart Reminder</a:t>
            </a:r>
          </a:p>
          <a:p>
            <a:pPr algn="l">
              <a:lnSpc>
                <a:spcPts val="3704"/>
              </a:lnSpc>
            </a:pPr>
          </a:p>
          <a:p>
            <a:pPr algn="l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Automatic compartment opening with buzzer, LED and OLED indication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9040" y="2693460"/>
            <a:ext cx="5772790" cy="199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IoT Monitoring</a:t>
            </a:r>
          </a:p>
          <a:p>
            <a:pPr algn="l">
              <a:lnSpc>
                <a:spcPts val="3704"/>
              </a:lnSpc>
            </a:pPr>
          </a:p>
          <a:p>
            <a:pPr algn="l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Blynk notifications and medicine status monitoring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7186" y="5326641"/>
            <a:ext cx="6048663" cy="20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8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Away Mode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  <a:r>
              <a:rPr lang="en-US" sz="38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Temporarily suppresses scheduled reminders when the user is away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261739" y="-13081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755750">
            <a:off x="16025728" y="5969407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5337436"/>
            <a:ext cx="6181312" cy="199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Emergency Mode</a:t>
            </a:r>
          </a:p>
          <a:p>
            <a:pPr algn="l">
              <a:lnSpc>
                <a:spcPts val="3704"/>
              </a:lnSpc>
            </a:pPr>
          </a:p>
          <a:p>
            <a:pPr algn="l">
              <a:lnSpc>
                <a:spcPts val="3704"/>
              </a:lnSpc>
            </a:pPr>
            <a:r>
              <a:rPr lang="en-US" sz="37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Help button activates buzzer, blue LED and caregiver notification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55508" y="8094756"/>
            <a:ext cx="11969804" cy="163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4"/>
              </a:lnSpc>
            </a:pPr>
            <a:r>
              <a:rPr lang="en-US" sz="40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Medicine Status:</a:t>
            </a:r>
          </a:p>
          <a:p>
            <a:pPr algn="ctr">
              <a:lnSpc>
                <a:spcPts val="4004"/>
              </a:lnSpc>
            </a:pPr>
            <a:r>
              <a:rPr lang="en-US" sz="40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READY → TAKEN / NOT TAKEN / SKIPPED - AWAY</a:t>
            </a:r>
          </a:p>
          <a:p>
            <a:pPr algn="l">
              <a:lnSpc>
                <a:spcPts val="400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7182" y="-730885"/>
            <a:ext cx="12866370" cy="128663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9863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15111" y="-271859"/>
            <a:ext cx="9240270" cy="341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5"/>
              </a:lnSpc>
            </a:pPr>
            <a:r>
              <a:rPr lang="en-US" sz="9118" b="true">
                <a:solidFill>
                  <a:srgbClr val="1D628B"/>
                </a:solidFill>
                <a:latin typeface="29LT Zarid Sans Bold"/>
                <a:ea typeface="29LT Zarid Sans Bold"/>
                <a:cs typeface="29LT Zarid Sans Bold"/>
                <a:sym typeface="29LT Zarid Sans Bold"/>
              </a:rPr>
              <a:t>System Overview and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4203" y="2963660"/>
            <a:ext cx="9712544" cy="493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Hardwa</a:t>
            </a: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re</a:t>
            </a:r>
          </a:p>
          <a:p>
            <a:pPr algn="l" marL="756564" indent="-378282" lvl="1">
              <a:lnSpc>
                <a:spcPts val="3504"/>
              </a:lnSpc>
              <a:buFont typeface="Arial"/>
              <a:buChar char="•"/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ESP32 • 2× Servo Motors • 2× IR Sensors • OLED • DS3231 RTC • Buzzer • LEDs •</a:t>
            </a: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 Push Buttons</a:t>
            </a:r>
          </a:p>
          <a:p>
            <a:pPr algn="l">
              <a:lnSpc>
                <a:spcPts val="3504"/>
              </a:lnSpc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Software</a:t>
            </a:r>
          </a:p>
          <a:p>
            <a:pPr algn="l" marL="756564" indent="-378282" lvl="1">
              <a:lnSpc>
                <a:spcPts val="3504"/>
              </a:lnSpc>
              <a:buFont typeface="Arial"/>
              <a:buChar char="•"/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Arduino IDE • ESP32 • Blynk IoT • C/C++</a:t>
            </a:r>
          </a:p>
          <a:p>
            <a:pPr algn="l">
              <a:lnSpc>
                <a:spcPts val="3504"/>
              </a:lnSpc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Expected Impact</a:t>
            </a:r>
          </a:p>
          <a:p>
            <a:pPr algn="l" marL="756564" indent="-378282" lvl="1">
              <a:lnSpc>
                <a:spcPts val="3504"/>
              </a:lnSpc>
              <a:buFont typeface="Arial"/>
              <a:buChar char="•"/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Reminder → Detection → Notification → Assistance</a:t>
            </a:r>
          </a:p>
          <a:p>
            <a:pPr algn="l">
              <a:lnSpc>
                <a:spcPts val="3504"/>
              </a:lnSpc>
            </a:pPr>
            <a:r>
              <a:rPr lang="en-US" sz="35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MEDIGUARD aims to make medication management more organized, interactive and connected, while providing an additional way for users to request help.</a:t>
            </a:r>
          </a:p>
          <a:p>
            <a:pPr algn="l">
              <a:lnSpc>
                <a:spcPts val="350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4203" y="7482990"/>
            <a:ext cx="9471674" cy="332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Futu</a:t>
            </a: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re Scope</a:t>
            </a:r>
          </a:p>
          <a:p>
            <a:pPr algn="l" marL="778153" indent="-389077" lvl="1">
              <a:lnSpc>
                <a:spcPts val="3604"/>
              </a:lnSpc>
              <a:buFont typeface="Arial"/>
              <a:buChar char="•"/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Mobile caregiver dashboard</a:t>
            </a:r>
          </a:p>
          <a:p>
            <a:pPr algn="l" marL="778153" indent="-389077" lvl="1">
              <a:lnSpc>
                <a:spcPts val="3604"/>
              </a:lnSpc>
              <a:buFont typeface="Arial"/>
              <a:buChar char="•"/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More </a:t>
            </a: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medicine compartments</a:t>
            </a:r>
          </a:p>
          <a:p>
            <a:pPr algn="l" marL="778153" indent="-389077" lvl="1">
              <a:lnSpc>
                <a:spcPts val="3604"/>
              </a:lnSpc>
              <a:buFont typeface="Arial"/>
              <a:buChar char="•"/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Medication history</a:t>
            </a:r>
          </a:p>
          <a:p>
            <a:pPr algn="l" marL="778153" indent="-389077" lvl="1">
              <a:lnSpc>
                <a:spcPts val="3604"/>
              </a:lnSpc>
              <a:buFont typeface="Arial"/>
              <a:buChar char="•"/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Voice-based reminders</a:t>
            </a:r>
          </a:p>
          <a:p>
            <a:pPr algn="l" marL="778153" indent="-389077" lvl="1">
              <a:lnSpc>
                <a:spcPts val="3604"/>
              </a:lnSpc>
              <a:buFont typeface="Arial"/>
              <a:buChar char="•"/>
            </a:pPr>
            <a:r>
              <a:rPr lang="en-US" sz="3604">
                <a:solidFill>
                  <a:srgbClr val="1D628B"/>
                </a:solidFill>
                <a:latin typeface="29LT Zarid Sans"/>
                <a:ea typeface="29LT Zarid Sans"/>
                <a:cs typeface="29LT Zarid Sans"/>
                <a:sym typeface="29LT Zarid Sans"/>
              </a:rPr>
              <a:t>Improved caregiver monitoring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642739" y="-14478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86861" y="9157539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7552" y="2640611"/>
            <a:ext cx="6311748" cy="5967470"/>
          </a:xfrm>
          <a:custGeom>
            <a:avLst/>
            <a:gdLst/>
            <a:ahLst/>
            <a:cxnLst/>
            <a:rect r="r" b="b" t="t" l="l"/>
            <a:pathLst>
              <a:path h="5967470" w="6311748">
                <a:moveTo>
                  <a:pt x="0" y="0"/>
                </a:moveTo>
                <a:lnTo>
                  <a:pt x="6311748" y="0"/>
                </a:lnTo>
                <a:lnTo>
                  <a:pt x="6311748" y="5967471"/>
                </a:lnTo>
                <a:lnTo>
                  <a:pt x="0" y="5967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51045" y="583211"/>
            <a:ext cx="4984890" cy="4114800"/>
          </a:xfrm>
          <a:custGeom>
            <a:avLst/>
            <a:gdLst/>
            <a:ahLst/>
            <a:cxnLst/>
            <a:rect r="r" b="b" t="t" l="l"/>
            <a:pathLst>
              <a:path h="4114800" w="4984890">
                <a:moveTo>
                  <a:pt x="0" y="0"/>
                </a:moveTo>
                <a:lnTo>
                  <a:pt x="4984890" y="0"/>
                </a:lnTo>
                <a:lnTo>
                  <a:pt x="49848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48588">
            <a:off x="13154454" y="7192977"/>
            <a:ext cx="4946277" cy="3201590"/>
          </a:xfrm>
          <a:custGeom>
            <a:avLst/>
            <a:gdLst/>
            <a:ahLst/>
            <a:cxnLst/>
            <a:rect r="r" b="b" t="t" l="l"/>
            <a:pathLst>
              <a:path h="3201590" w="4946277">
                <a:moveTo>
                  <a:pt x="0" y="0"/>
                </a:moveTo>
                <a:lnTo>
                  <a:pt x="4946278" y="0"/>
                </a:lnTo>
                <a:lnTo>
                  <a:pt x="4946278" y="3201590"/>
                </a:lnTo>
                <a:lnTo>
                  <a:pt x="0" y="3201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6435" y="622300"/>
            <a:ext cx="3134729" cy="4114800"/>
          </a:xfrm>
          <a:custGeom>
            <a:avLst/>
            <a:gdLst/>
            <a:ahLst/>
            <a:cxnLst/>
            <a:rect r="r" b="b" t="t" l="l"/>
            <a:pathLst>
              <a:path h="4114800" w="3134729">
                <a:moveTo>
                  <a:pt x="0" y="0"/>
                </a:moveTo>
                <a:lnTo>
                  <a:pt x="3134730" y="0"/>
                </a:lnTo>
                <a:lnTo>
                  <a:pt x="31347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547663"/>
            <a:ext cx="12470079" cy="194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2"/>
              </a:lnSpc>
            </a:pPr>
            <a:r>
              <a:rPr lang="en-US" sz="15810">
                <a:solidFill>
                  <a:srgbClr val="1D628B"/>
                </a:solidFill>
                <a:latin typeface="Baloo"/>
                <a:ea typeface="Baloo"/>
                <a:cs typeface="Baloo"/>
                <a:sym typeface="Baloo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400" y="5195721"/>
            <a:ext cx="7617215" cy="88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3"/>
              </a:lnSpc>
            </a:pPr>
            <a:r>
              <a:rPr lang="en-US" sz="4523" b="true">
                <a:solidFill>
                  <a:srgbClr val="1D628B"/>
                </a:solidFill>
                <a:latin typeface="29LT Zarid Sans Bold"/>
                <a:ea typeface="29LT Zarid Sans Bold"/>
                <a:cs typeface="29LT Zarid Sans Bold"/>
                <a:sym typeface="29LT Zarid Sans Bold"/>
              </a:rPr>
              <a:t>Presented by: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02661" y="-17780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07842" y="9258300"/>
            <a:ext cx="5657850" cy="4114800"/>
          </a:xfrm>
          <a:custGeom>
            <a:avLst/>
            <a:gdLst/>
            <a:ahLst/>
            <a:cxnLst/>
            <a:rect r="r" b="b" t="t" l="l"/>
            <a:pathLst>
              <a:path h="4114800" w="5657850">
                <a:moveTo>
                  <a:pt x="0" y="0"/>
                </a:moveTo>
                <a:lnTo>
                  <a:pt x="5657850" y="0"/>
                </a:lnTo>
                <a:lnTo>
                  <a:pt x="56578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DAHWQE2Kv5M</dc:identifier>
  <dcterms:modified xsi:type="dcterms:W3CDTF">2011-08-01T06:04:30Z</dcterms:modified>
  <cp:revision>1</cp:revision>
  <dc:title>MEDIGUARD</dc:title>
</cp:coreProperties>
</file>