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Baloo" charset="1" panose="03080902040302020200"/>
      <p:regular r:id="rId12"/>
    </p:embeddedFont>
    <p:embeddedFont>
      <p:font typeface="29LT Zarid Sans Bold" charset="1" panose="00000800000000000000"/>
      <p:regular r:id="rId13"/>
    </p:embeddedFont>
    <p:embeddedFont>
      <p:font typeface="29LT Zarid Sans" charset="1" panose="0000050000000000000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1.jpe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17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Relationship Id="rId3" Target="../media/image19.png" Type="http://schemas.openxmlformats.org/officeDocument/2006/relationships/image"/><Relationship Id="rId4" Target="../media/image20.svg" Type="http://schemas.openxmlformats.org/officeDocument/2006/relationships/image"/><Relationship Id="rId5" Target="../media/image9.png" Type="http://schemas.openxmlformats.org/officeDocument/2006/relationships/image"/><Relationship Id="rId6" Target="../media/image1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jpeg" Type="http://schemas.openxmlformats.org/officeDocument/2006/relationships/image"/><Relationship Id="rId3" Target="../media/image9.png" Type="http://schemas.openxmlformats.org/officeDocument/2006/relationships/image"/><Relationship Id="rId4" Target="../media/image10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E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947552" y="2640611"/>
            <a:ext cx="6311748" cy="5967470"/>
          </a:xfrm>
          <a:custGeom>
            <a:avLst/>
            <a:gdLst/>
            <a:ahLst/>
            <a:cxnLst/>
            <a:rect r="r" b="b" t="t" l="l"/>
            <a:pathLst>
              <a:path h="5967470" w="6311748">
                <a:moveTo>
                  <a:pt x="0" y="0"/>
                </a:moveTo>
                <a:lnTo>
                  <a:pt x="6311748" y="0"/>
                </a:lnTo>
                <a:lnTo>
                  <a:pt x="6311748" y="5967471"/>
                </a:lnTo>
                <a:lnTo>
                  <a:pt x="0" y="5967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451045" y="583211"/>
            <a:ext cx="4984890" cy="4114800"/>
          </a:xfrm>
          <a:custGeom>
            <a:avLst/>
            <a:gdLst/>
            <a:ahLst/>
            <a:cxnLst/>
            <a:rect r="r" b="b" t="t" l="l"/>
            <a:pathLst>
              <a:path h="4114800" w="4984890">
                <a:moveTo>
                  <a:pt x="0" y="0"/>
                </a:moveTo>
                <a:lnTo>
                  <a:pt x="4984890" y="0"/>
                </a:lnTo>
                <a:lnTo>
                  <a:pt x="498489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448588">
            <a:off x="13154454" y="7192977"/>
            <a:ext cx="4946277" cy="3201590"/>
          </a:xfrm>
          <a:custGeom>
            <a:avLst/>
            <a:gdLst/>
            <a:ahLst/>
            <a:cxnLst/>
            <a:rect r="r" b="b" t="t" l="l"/>
            <a:pathLst>
              <a:path h="3201590" w="4946277">
                <a:moveTo>
                  <a:pt x="0" y="0"/>
                </a:moveTo>
                <a:lnTo>
                  <a:pt x="4946278" y="0"/>
                </a:lnTo>
                <a:lnTo>
                  <a:pt x="4946278" y="3201590"/>
                </a:lnTo>
                <a:lnTo>
                  <a:pt x="0" y="32015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136435" y="622300"/>
            <a:ext cx="3134729" cy="4114800"/>
          </a:xfrm>
          <a:custGeom>
            <a:avLst/>
            <a:gdLst/>
            <a:ahLst/>
            <a:cxnLst/>
            <a:rect r="r" b="b" t="t" l="l"/>
            <a:pathLst>
              <a:path h="4114800" w="3134729">
                <a:moveTo>
                  <a:pt x="0" y="0"/>
                </a:moveTo>
                <a:lnTo>
                  <a:pt x="3134730" y="0"/>
                </a:lnTo>
                <a:lnTo>
                  <a:pt x="313473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323461" y="-1498600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41400" y="3947192"/>
            <a:ext cx="10871204" cy="2746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128"/>
              </a:lnSpc>
            </a:pPr>
            <a:r>
              <a:rPr lang="en-US" sz="13782">
                <a:solidFill>
                  <a:srgbClr val="1D628B"/>
                </a:solidFill>
                <a:latin typeface="Baloo"/>
                <a:ea typeface="Baloo"/>
                <a:cs typeface="Baloo"/>
                <a:sym typeface="Baloo"/>
              </a:rPr>
              <a:t>MEDIGUARD</a:t>
            </a:r>
          </a:p>
          <a:p>
            <a:pPr algn="l">
              <a:lnSpc>
                <a:spcPts val="4928"/>
              </a:lnSpc>
            </a:pPr>
            <a:r>
              <a:rPr lang="en-US" sz="5600">
                <a:solidFill>
                  <a:srgbClr val="1D628B"/>
                </a:solidFill>
                <a:latin typeface="Baloo"/>
                <a:ea typeface="Baloo"/>
                <a:cs typeface="Baloo"/>
                <a:sym typeface="Baloo"/>
              </a:rPr>
              <a:t>Smart IoT-Based Medicine Reminder &amp; Assistance System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-2455539" y="9220200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28700" y="7084809"/>
            <a:ext cx="10871204" cy="2959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20"/>
              </a:lnSpc>
            </a:pPr>
            <a:r>
              <a:rPr lang="en-US" sz="6500">
                <a:solidFill>
                  <a:srgbClr val="1D628B"/>
                </a:solidFill>
                <a:latin typeface="Baloo"/>
                <a:ea typeface="Baloo"/>
                <a:cs typeface="Baloo"/>
                <a:sym typeface="Baloo"/>
              </a:rPr>
              <a:t>Team : CTRL + CARE</a:t>
            </a:r>
          </a:p>
          <a:p>
            <a:pPr algn="l">
              <a:lnSpc>
                <a:spcPts val="5720"/>
              </a:lnSpc>
            </a:pPr>
            <a:r>
              <a:rPr lang="en-US" sz="6500">
                <a:solidFill>
                  <a:srgbClr val="1D628B"/>
                </a:solidFill>
                <a:latin typeface="Baloo"/>
                <a:ea typeface="Baloo"/>
                <a:cs typeface="Baloo"/>
                <a:sym typeface="Baloo"/>
              </a:rPr>
              <a:t>Domain : Health tech and bio wearables</a:t>
            </a:r>
          </a:p>
          <a:p>
            <a:pPr algn="l">
              <a:lnSpc>
                <a:spcPts val="5720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E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525139" y="8848638"/>
            <a:ext cx="7291962" cy="5303245"/>
          </a:xfrm>
          <a:custGeom>
            <a:avLst/>
            <a:gdLst/>
            <a:ahLst/>
            <a:cxnLst/>
            <a:rect r="r" b="b" t="t" l="l"/>
            <a:pathLst>
              <a:path h="5303245" w="7291962">
                <a:moveTo>
                  <a:pt x="0" y="0"/>
                </a:moveTo>
                <a:lnTo>
                  <a:pt x="7291962" y="0"/>
                </a:lnTo>
                <a:lnTo>
                  <a:pt x="7291962" y="5303245"/>
                </a:lnTo>
                <a:lnTo>
                  <a:pt x="0" y="53032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3626110" y="-6381975"/>
            <a:ext cx="11939270" cy="11939270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-25342" t="0" r="-25342" b="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743781">
            <a:off x="13007667" y="-550461"/>
            <a:ext cx="4562782" cy="4114800"/>
          </a:xfrm>
          <a:custGeom>
            <a:avLst/>
            <a:gdLst/>
            <a:ahLst/>
            <a:cxnLst/>
            <a:rect r="r" b="b" t="t" l="l"/>
            <a:pathLst>
              <a:path h="4114800" w="4562782">
                <a:moveTo>
                  <a:pt x="0" y="0"/>
                </a:moveTo>
                <a:lnTo>
                  <a:pt x="4562782" y="0"/>
                </a:lnTo>
                <a:lnTo>
                  <a:pt x="45627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56623" y="6998335"/>
            <a:ext cx="3973804" cy="3700605"/>
          </a:xfrm>
          <a:custGeom>
            <a:avLst/>
            <a:gdLst/>
            <a:ahLst/>
            <a:cxnLst/>
            <a:rect r="r" b="b" t="t" l="l"/>
            <a:pathLst>
              <a:path h="3700605" w="3973804">
                <a:moveTo>
                  <a:pt x="0" y="0"/>
                </a:moveTo>
                <a:lnTo>
                  <a:pt x="3973804" y="0"/>
                </a:lnTo>
                <a:lnTo>
                  <a:pt x="3973804" y="3700605"/>
                </a:lnTo>
                <a:lnTo>
                  <a:pt x="0" y="37006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7278207" y="2379164"/>
            <a:ext cx="7379014" cy="1948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850"/>
              </a:lnSpc>
            </a:pPr>
            <a:r>
              <a:rPr lang="en-US" sz="9892" b="true">
                <a:solidFill>
                  <a:srgbClr val="1D628B"/>
                </a:solidFill>
                <a:latin typeface="29LT Zarid Sans Bold"/>
                <a:ea typeface="29LT Zarid Sans Bold"/>
                <a:cs typeface="29LT Zarid Sans Bold"/>
                <a:sym typeface="29LT Zarid Sans Bold"/>
              </a:rPr>
              <a:t>The Problem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7278207" y="3977552"/>
            <a:ext cx="10680722" cy="60636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Medicati</a:t>
            </a: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on is often missed because of:</a:t>
            </a:r>
          </a:p>
          <a:p>
            <a:pPr algn="l" marL="777865" indent="-388933" lvl="1">
              <a:lnSpc>
                <a:spcPts val="3602"/>
              </a:lnSpc>
              <a:buFont typeface="Arial"/>
              <a:buChar char="•"/>
            </a:pP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⏰ Forgetting scheduled medicine times</a:t>
            </a:r>
          </a:p>
          <a:p>
            <a:pPr algn="l" marL="777865" indent="-388933" lvl="1">
              <a:lnSpc>
                <a:spcPts val="3602"/>
              </a:lnSpc>
              <a:buFont typeface="Arial"/>
              <a:buChar char="•"/>
            </a:pP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👴 Difficulty managing multiple medicines</a:t>
            </a:r>
          </a:p>
          <a:p>
            <a:pPr algn="l" marL="777865" indent="-388933" lvl="1">
              <a:lnSpc>
                <a:spcPts val="3602"/>
              </a:lnSpc>
              <a:buFont typeface="Arial"/>
              <a:buChar char="•"/>
            </a:pP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🔔 Convention</a:t>
            </a: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al alarms only provide a basic reminder</a:t>
            </a:r>
          </a:p>
          <a:p>
            <a:pPr algn="l" marL="777865" indent="-388933" lvl="1">
              <a:lnSpc>
                <a:spcPts val="3602"/>
              </a:lnSpc>
              <a:buFont typeface="Arial"/>
              <a:buChar char="•"/>
            </a:pP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📱 No immediate notification to a caregiver when medicine is missed</a:t>
            </a:r>
          </a:p>
          <a:p>
            <a:pPr algn="l" marL="777865" indent="-388933" lvl="1">
              <a:lnSpc>
                <a:spcPts val="3602"/>
              </a:lnSpc>
              <a:buFont typeface="Arial"/>
              <a:buChar char="•"/>
            </a:pP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🚨 No dedicated mechanism for requesting emergency assistance</a:t>
            </a:r>
          </a:p>
          <a:p>
            <a:pPr algn="l">
              <a:lnSpc>
                <a:spcPts val="3602"/>
              </a:lnSpc>
            </a:pP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Our Goal</a:t>
            </a:r>
          </a:p>
          <a:p>
            <a:pPr algn="l">
              <a:lnSpc>
                <a:spcPts val="3602"/>
              </a:lnSpc>
            </a:pPr>
            <a:r>
              <a:rPr lang="en-US" sz="3602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To develop a low-cost smart medicine box that can remind the user, detect whether the medicine was taken, notify remotely, and provide emergency assistance.</a:t>
            </a:r>
          </a:p>
          <a:p>
            <a:pPr algn="l">
              <a:lnSpc>
                <a:spcPts val="3602"/>
              </a:lnSpc>
            </a:pP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5367000" y="-3063962"/>
            <a:ext cx="7291962" cy="5303245"/>
          </a:xfrm>
          <a:custGeom>
            <a:avLst/>
            <a:gdLst/>
            <a:ahLst/>
            <a:cxnLst/>
            <a:rect r="r" b="b" t="t" l="l"/>
            <a:pathLst>
              <a:path h="5303245" w="7291962">
                <a:moveTo>
                  <a:pt x="0" y="0"/>
                </a:moveTo>
                <a:lnTo>
                  <a:pt x="7291962" y="0"/>
                </a:lnTo>
                <a:lnTo>
                  <a:pt x="7291962" y="5303245"/>
                </a:lnTo>
                <a:lnTo>
                  <a:pt x="0" y="53032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E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053278" y="8571143"/>
            <a:ext cx="5024874" cy="3151967"/>
          </a:xfrm>
          <a:custGeom>
            <a:avLst/>
            <a:gdLst/>
            <a:ahLst/>
            <a:cxnLst/>
            <a:rect r="r" b="b" t="t" l="l"/>
            <a:pathLst>
              <a:path h="3151967" w="5024874">
                <a:moveTo>
                  <a:pt x="0" y="0"/>
                </a:moveTo>
                <a:lnTo>
                  <a:pt x="5024875" y="0"/>
                </a:lnTo>
                <a:lnTo>
                  <a:pt x="5024875" y="3151967"/>
                </a:lnTo>
                <a:lnTo>
                  <a:pt x="0" y="31519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090468">
            <a:off x="14380985" y="-1028700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1090468">
            <a:off x="-3386873" y="5252593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35457" y="1276355"/>
            <a:ext cx="9897318" cy="8870772"/>
          </a:xfrm>
          <a:custGeom>
            <a:avLst/>
            <a:gdLst/>
            <a:ahLst/>
            <a:cxnLst/>
            <a:rect r="r" b="b" t="t" l="l"/>
            <a:pathLst>
              <a:path h="8870772" w="9897318">
                <a:moveTo>
                  <a:pt x="0" y="0"/>
                </a:moveTo>
                <a:lnTo>
                  <a:pt x="9897319" y="0"/>
                </a:lnTo>
                <a:lnTo>
                  <a:pt x="9897319" y="8870772"/>
                </a:lnTo>
                <a:lnTo>
                  <a:pt x="0" y="887077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981" r="0" b="-981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768370" y="-652744"/>
            <a:ext cx="10112019" cy="20689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643"/>
              </a:lnSpc>
            </a:pPr>
            <a:r>
              <a:rPr lang="en-US" sz="10459" b="true">
                <a:solidFill>
                  <a:srgbClr val="1D628B"/>
                </a:solidFill>
                <a:latin typeface="29LT Zarid Sans Bold"/>
                <a:ea typeface="29LT Zarid Sans Bold"/>
                <a:cs typeface="29LT Zarid Sans Bold"/>
                <a:sym typeface="29LT Zarid Sans Bold"/>
              </a:rPr>
              <a:t>Working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573493" y="7708157"/>
            <a:ext cx="5992223" cy="1550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4"/>
              </a:lnSpc>
            </a:pPr>
            <a:r>
              <a:rPr lang="en-US" sz="29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C</a:t>
            </a:r>
            <a:r>
              <a:rPr lang="en-US" sz="29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ontroller</a:t>
            </a:r>
          </a:p>
          <a:p>
            <a:pPr algn="l">
              <a:lnSpc>
                <a:spcPts val="2904"/>
              </a:lnSpc>
            </a:pPr>
            <a:r>
              <a:rPr lang="en-US" sz="29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ESP32 acts as the centr</a:t>
            </a:r>
            <a:r>
              <a:rPr lang="en-US" sz="29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al controller and connects the system to Blynk IoT.</a:t>
            </a:r>
          </a:p>
          <a:p>
            <a:pPr algn="l">
              <a:lnSpc>
                <a:spcPts val="2904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E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647553">
            <a:off x="285116" y="7490131"/>
            <a:ext cx="1726670" cy="3208339"/>
          </a:xfrm>
          <a:custGeom>
            <a:avLst/>
            <a:gdLst/>
            <a:ahLst/>
            <a:cxnLst/>
            <a:rect r="r" b="b" t="t" l="l"/>
            <a:pathLst>
              <a:path h="3208339" w="1726670">
                <a:moveTo>
                  <a:pt x="0" y="0"/>
                </a:moveTo>
                <a:lnTo>
                  <a:pt x="1726669" y="0"/>
                </a:lnTo>
                <a:lnTo>
                  <a:pt x="1726669" y="3208338"/>
                </a:lnTo>
                <a:lnTo>
                  <a:pt x="0" y="32083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306396">
            <a:off x="15907259" y="749300"/>
            <a:ext cx="3134729" cy="4114800"/>
          </a:xfrm>
          <a:custGeom>
            <a:avLst/>
            <a:gdLst/>
            <a:ahLst/>
            <a:cxnLst/>
            <a:rect r="r" b="b" t="t" l="l"/>
            <a:pathLst>
              <a:path h="4114800" w="3134729">
                <a:moveTo>
                  <a:pt x="0" y="0"/>
                </a:moveTo>
                <a:lnTo>
                  <a:pt x="3134729" y="0"/>
                </a:lnTo>
                <a:lnTo>
                  <a:pt x="313472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176432" y="-280737"/>
            <a:ext cx="10745217" cy="167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27"/>
              </a:lnSpc>
            </a:pPr>
            <a:r>
              <a:rPr lang="en-US" sz="8519" b="true">
                <a:solidFill>
                  <a:srgbClr val="1D628B"/>
                </a:solidFill>
                <a:latin typeface="29LT Zarid Sans Bold"/>
                <a:ea typeface="29LT Zarid Sans Bold"/>
                <a:cs typeface="29LT Zarid Sans Bold"/>
                <a:sym typeface="29LT Zarid Sans Bold"/>
              </a:rPr>
              <a:t>Key Features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67186" y="2693460"/>
            <a:ext cx="6048663" cy="19990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4"/>
              </a:lnSpc>
            </a:pPr>
            <a:r>
              <a:rPr lang="en-US" sz="37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Smart Reminder</a:t>
            </a:r>
          </a:p>
          <a:p>
            <a:pPr algn="l">
              <a:lnSpc>
                <a:spcPts val="3704"/>
              </a:lnSpc>
            </a:pPr>
          </a:p>
          <a:p>
            <a:pPr algn="l">
              <a:lnSpc>
                <a:spcPts val="3704"/>
              </a:lnSpc>
            </a:pPr>
            <a:r>
              <a:rPr lang="en-US" sz="37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Automatic compartment opening with buzzer, LED and OLED indication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49040" y="2693460"/>
            <a:ext cx="5772790" cy="19990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4"/>
              </a:lnSpc>
            </a:pPr>
            <a:r>
              <a:rPr lang="en-US" sz="37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IoT Monitoring</a:t>
            </a:r>
          </a:p>
          <a:p>
            <a:pPr algn="l">
              <a:lnSpc>
                <a:spcPts val="3704"/>
              </a:lnSpc>
            </a:pPr>
          </a:p>
          <a:p>
            <a:pPr algn="l">
              <a:lnSpc>
                <a:spcPts val="3704"/>
              </a:lnSpc>
            </a:pPr>
            <a:r>
              <a:rPr lang="en-US" sz="37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Blynk notifications and medicine status monitoring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67186" y="5326641"/>
            <a:ext cx="6048663" cy="20302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04"/>
              </a:lnSpc>
            </a:pPr>
            <a:r>
              <a:rPr lang="en-US" sz="38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Away Mode</a:t>
            </a:r>
          </a:p>
          <a:p>
            <a:pPr algn="l">
              <a:lnSpc>
                <a:spcPts val="3804"/>
              </a:lnSpc>
            </a:pPr>
          </a:p>
          <a:p>
            <a:pPr algn="l">
              <a:lnSpc>
                <a:spcPts val="3804"/>
              </a:lnSpc>
            </a:pPr>
            <a:r>
              <a:rPr lang="en-US" sz="38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Temporarily suppresses scheduled reminders when the user is away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-1261739" y="-1308100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4755750">
            <a:off x="16025728" y="5969407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144000" y="5337436"/>
            <a:ext cx="6181312" cy="19990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4"/>
              </a:lnSpc>
            </a:pPr>
            <a:r>
              <a:rPr lang="en-US" sz="37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Emergency Mode</a:t>
            </a:r>
          </a:p>
          <a:p>
            <a:pPr algn="l">
              <a:lnSpc>
                <a:spcPts val="3704"/>
              </a:lnSpc>
            </a:pPr>
          </a:p>
          <a:p>
            <a:pPr algn="l">
              <a:lnSpc>
                <a:spcPts val="3704"/>
              </a:lnSpc>
            </a:pPr>
            <a:r>
              <a:rPr lang="en-US" sz="37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Help button activates buzzer, blue LED and caregiver notification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355508" y="8094756"/>
            <a:ext cx="11969804" cy="1635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04"/>
              </a:lnSpc>
            </a:pPr>
            <a:r>
              <a:rPr lang="en-US" sz="40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Medicine Status:</a:t>
            </a:r>
          </a:p>
          <a:p>
            <a:pPr algn="ctr">
              <a:lnSpc>
                <a:spcPts val="4004"/>
              </a:lnSpc>
            </a:pPr>
            <a:r>
              <a:rPr lang="en-US" sz="40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READY → TAKEN / NOT TAKEN / SKIPPED - AWAY</a:t>
            </a:r>
          </a:p>
          <a:p>
            <a:pPr algn="l">
              <a:lnSpc>
                <a:spcPts val="4004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E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307182" y="-730885"/>
            <a:ext cx="12866370" cy="1286637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49863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4015111" y="-271859"/>
            <a:ext cx="9240270" cy="34164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765"/>
              </a:lnSpc>
            </a:pPr>
            <a:r>
              <a:rPr lang="en-US" sz="9118" b="true">
                <a:solidFill>
                  <a:srgbClr val="1D628B"/>
                </a:solidFill>
                <a:latin typeface="29LT Zarid Sans Bold"/>
                <a:ea typeface="29LT Zarid Sans Bold"/>
                <a:cs typeface="29LT Zarid Sans Bold"/>
                <a:sym typeface="29LT Zarid Sans Bold"/>
              </a:rPr>
              <a:t>System Overview and Impact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74203" y="2963660"/>
            <a:ext cx="9712544" cy="49372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4"/>
              </a:lnSpc>
            </a:pP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Hardwa</a:t>
            </a: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re</a:t>
            </a:r>
          </a:p>
          <a:p>
            <a:pPr algn="l" marL="756564" indent="-378282" lvl="1">
              <a:lnSpc>
                <a:spcPts val="3504"/>
              </a:lnSpc>
              <a:buFont typeface="Arial"/>
              <a:buChar char="•"/>
            </a:pP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ESP32 • 2× Servo Motors • 2× IR Sensors • OLED • DS3231 RTC • Buzzer • LEDs •</a:t>
            </a: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 Push Buttons</a:t>
            </a:r>
          </a:p>
          <a:p>
            <a:pPr algn="l">
              <a:lnSpc>
                <a:spcPts val="3504"/>
              </a:lnSpc>
            </a:pP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Software</a:t>
            </a:r>
          </a:p>
          <a:p>
            <a:pPr algn="l" marL="756564" indent="-378282" lvl="1">
              <a:lnSpc>
                <a:spcPts val="3504"/>
              </a:lnSpc>
              <a:buFont typeface="Arial"/>
              <a:buChar char="•"/>
            </a:pP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Arduino IDE • ESP32 • Blynk IoT • C/C++</a:t>
            </a:r>
          </a:p>
          <a:p>
            <a:pPr algn="l">
              <a:lnSpc>
                <a:spcPts val="3504"/>
              </a:lnSpc>
            </a:pP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Expected Impact</a:t>
            </a:r>
          </a:p>
          <a:p>
            <a:pPr algn="l" marL="756564" indent="-378282" lvl="1">
              <a:lnSpc>
                <a:spcPts val="3504"/>
              </a:lnSpc>
              <a:buFont typeface="Arial"/>
              <a:buChar char="•"/>
            </a:pP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Reminder → Detection → Notification → Assistance</a:t>
            </a:r>
          </a:p>
          <a:p>
            <a:pPr algn="l">
              <a:lnSpc>
                <a:spcPts val="3504"/>
              </a:lnSpc>
            </a:pPr>
            <a:r>
              <a:rPr lang="en-US" sz="35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MEDIGUARD aims to make medication management more organized, interactive and connected, while providing an additional way for users to request help.</a:t>
            </a:r>
          </a:p>
          <a:p>
            <a:pPr algn="l">
              <a:lnSpc>
                <a:spcPts val="3504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474203" y="7482990"/>
            <a:ext cx="9471674" cy="3320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4"/>
              </a:lnSpc>
            </a:pPr>
            <a:r>
              <a:rPr lang="en-US" sz="36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Futu</a:t>
            </a:r>
            <a:r>
              <a:rPr lang="en-US" sz="36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re Scope</a:t>
            </a:r>
          </a:p>
          <a:p>
            <a:pPr algn="l" marL="778153" indent="-389077" lvl="1">
              <a:lnSpc>
                <a:spcPts val="3604"/>
              </a:lnSpc>
              <a:buFont typeface="Arial"/>
              <a:buChar char="•"/>
            </a:pPr>
            <a:r>
              <a:rPr lang="en-US" sz="36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Mobile caregiver dashboard</a:t>
            </a:r>
          </a:p>
          <a:p>
            <a:pPr algn="l" marL="778153" indent="-389077" lvl="1">
              <a:lnSpc>
                <a:spcPts val="3604"/>
              </a:lnSpc>
              <a:buFont typeface="Arial"/>
              <a:buChar char="•"/>
            </a:pPr>
            <a:r>
              <a:rPr lang="en-US" sz="36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More </a:t>
            </a:r>
            <a:r>
              <a:rPr lang="en-US" sz="36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medicine compartments</a:t>
            </a:r>
          </a:p>
          <a:p>
            <a:pPr algn="l" marL="778153" indent="-389077" lvl="1">
              <a:lnSpc>
                <a:spcPts val="3604"/>
              </a:lnSpc>
              <a:buFont typeface="Arial"/>
              <a:buChar char="•"/>
            </a:pPr>
            <a:r>
              <a:rPr lang="en-US" sz="36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Medication history</a:t>
            </a:r>
          </a:p>
          <a:p>
            <a:pPr algn="l" marL="778153" indent="-389077" lvl="1">
              <a:lnSpc>
                <a:spcPts val="3604"/>
              </a:lnSpc>
              <a:buFont typeface="Arial"/>
              <a:buChar char="•"/>
            </a:pPr>
            <a:r>
              <a:rPr lang="en-US" sz="36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Voice-based reminders</a:t>
            </a:r>
          </a:p>
          <a:p>
            <a:pPr algn="l" marL="778153" indent="-389077" lvl="1">
              <a:lnSpc>
                <a:spcPts val="3604"/>
              </a:lnSpc>
              <a:buFont typeface="Arial"/>
              <a:buChar char="•"/>
            </a:pPr>
            <a:r>
              <a:rPr lang="en-US" sz="3604">
                <a:solidFill>
                  <a:srgbClr val="1D628B"/>
                </a:solidFill>
                <a:latin typeface="29LT Zarid Sans"/>
                <a:ea typeface="29LT Zarid Sans"/>
                <a:cs typeface="29LT Zarid Sans"/>
                <a:sym typeface="29LT Zarid Sans"/>
              </a:rPr>
              <a:t>Improved caregiver monitoring</a:t>
            </a:r>
          </a:p>
          <a:p>
            <a:pPr algn="l">
              <a:lnSpc>
                <a:spcPts val="3604"/>
              </a:lnSpc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-1642739" y="-1447800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6586861" y="9157539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7E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947552" y="2640611"/>
            <a:ext cx="6311748" cy="5967470"/>
          </a:xfrm>
          <a:custGeom>
            <a:avLst/>
            <a:gdLst/>
            <a:ahLst/>
            <a:cxnLst/>
            <a:rect r="r" b="b" t="t" l="l"/>
            <a:pathLst>
              <a:path h="5967470" w="6311748">
                <a:moveTo>
                  <a:pt x="0" y="0"/>
                </a:moveTo>
                <a:lnTo>
                  <a:pt x="6311748" y="0"/>
                </a:lnTo>
                <a:lnTo>
                  <a:pt x="6311748" y="5967471"/>
                </a:lnTo>
                <a:lnTo>
                  <a:pt x="0" y="59674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451045" y="583211"/>
            <a:ext cx="4984890" cy="4114800"/>
          </a:xfrm>
          <a:custGeom>
            <a:avLst/>
            <a:gdLst/>
            <a:ahLst/>
            <a:cxnLst/>
            <a:rect r="r" b="b" t="t" l="l"/>
            <a:pathLst>
              <a:path h="4114800" w="4984890">
                <a:moveTo>
                  <a:pt x="0" y="0"/>
                </a:moveTo>
                <a:lnTo>
                  <a:pt x="4984890" y="0"/>
                </a:lnTo>
                <a:lnTo>
                  <a:pt x="498489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448588">
            <a:off x="13154454" y="7192977"/>
            <a:ext cx="4946277" cy="3201590"/>
          </a:xfrm>
          <a:custGeom>
            <a:avLst/>
            <a:gdLst/>
            <a:ahLst/>
            <a:cxnLst/>
            <a:rect r="r" b="b" t="t" l="l"/>
            <a:pathLst>
              <a:path h="3201590" w="4946277">
                <a:moveTo>
                  <a:pt x="0" y="0"/>
                </a:moveTo>
                <a:lnTo>
                  <a:pt x="4946278" y="0"/>
                </a:lnTo>
                <a:lnTo>
                  <a:pt x="4946278" y="3201590"/>
                </a:lnTo>
                <a:lnTo>
                  <a:pt x="0" y="32015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136435" y="622300"/>
            <a:ext cx="3134729" cy="4114800"/>
          </a:xfrm>
          <a:custGeom>
            <a:avLst/>
            <a:gdLst/>
            <a:ahLst/>
            <a:cxnLst/>
            <a:rect r="r" b="b" t="t" l="l"/>
            <a:pathLst>
              <a:path h="4114800" w="3134729">
                <a:moveTo>
                  <a:pt x="0" y="0"/>
                </a:moveTo>
                <a:lnTo>
                  <a:pt x="3134730" y="0"/>
                </a:lnTo>
                <a:lnTo>
                  <a:pt x="313473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6547663"/>
            <a:ext cx="12470079" cy="1940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12"/>
              </a:lnSpc>
            </a:pPr>
            <a:r>
              <a:rPr lang="en-US" sz="15810">
                <a:solidFill>
                  <a:srgbClr val="1D628B"/>
                </a:solidFill>
                <a:latin typeface="Baloo"/>
                <a:ea typeface="Baloo"/>
                <a:cs typeface="Baloo"/>
                <a:sym typeface="Baloo"/>
              </a:rPr>
              <a:t>Thank You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1400" y="5195721"/>
            <a:ext cx="7617215" cy="885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33"/>
              </a:lnSpc>
            </a:pPr>
            <a:r>
              <a:rPr lang="en-US" sz="4523" b="true">
                <a:solidFill>
                  <a:srgbClr val="1D628B"/>
                </a:solidFill>
                <a:latin typeface="29LT Zarid Sans Bold"/>
                <a:ea typeface="29LT Zarid Sans Bold"/>
                <a:cs typeface="29LT Zarid Sans Bold"/>
                <a:sym typeface="29LT Zarid Sans Bold"/>
              </a:rPr>
              <a:t>Presented by: 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6002661" y="-1778000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807842" y="9258300"/>
            <a:ext cx="5657850" cy="4114800"/>
          </a:xfrm>
          <a:custGeom>
            <a:avLst/>
            <a:gdLst/>
            <a:ahLst/>
            <a:cxnLst/>
            <a:rect r="r" b="b" t="t" l="l"/>
            <a:pathLst>
              <a:path h="4114800" w="5657850">
                <a:moveTo>
                  <a:pt x="0" y="0"/>
                </a:moveTo>
                <a:lnTo>
                  <a:pt x="5657850" y="0"/>
                </a:lnTo>
                <a:lnTo>
                  <a:pt x="56578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DAHWQE2Kv5M</dc:identifier>
  <dcterms:modified xsi:type="dcterms:W3CDTF">2011-08-01T06:04:30Z</dcterms:modified>
  <cp:revision>1</cp:revision>
  <dc:title>MEDIGUARD</dc:title>
</cp:coreProperties>
</file>